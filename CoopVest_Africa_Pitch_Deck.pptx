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638190" y="1371600"/>
            <a:ext cx="1371600" cy="137160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75350" y="1508760"/>
            <a:ext cx="10972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/>
            </a:pPr>
            <a:r>
              <a:t>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59E0B"/>
                </a:solidFill>
              </a:defRPr>
            </a:pPr>
            <a:r>
              <a:t>CoopVest Africa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10B981"/>
                </a:solidFill>
              </a:defRPr>
            </a:pPr>
            <a:r>
              <a:t>Digital Cooperative Finance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303520"/>
            <a:ext cx="103628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6B7280"/>
                </a:solidFill>
              </a:defRPr>
            </a:pPr>
            <a:r>
              <a:t>Transforming Cooperative Savings for Millions of Nigerian Workers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94360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6B7280"/>
                </a:solidFill>
              </a:defRPr>
            </a:pPr>
            <a:r>
              <a:t>Presented by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640080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59E0B"/>
                </a:solidFill>
              </a:defRPr>
            </a:pPr>
            <a:r>
              <a:t>Ayanlowo Olatunji Ayobami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800" b="1">
                <a:solidFill>
                  <a:srgbClr val="EF4444"/>
                </a:solidFill>
              </a:defRPr>
            </a:pPr>
            <a: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0" y="36576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</a:defRPr>
            </a:pPr>
            <a:r>
              <a:t>The Problem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11277295" cy="1371600"/>
          </a:xfrm>
          <a:prstGeom prst="roundRect">
            <a:avLst/>
          </a:prstGeom>
          <a:solidFill>
            <a:srgbClr val="1F2937"/>
          </a:solidFill>
          <a:ln>
            <a:solidFill>
              <a:srgbClr val="4B5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731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/>
            </a:pPr>
            <a:r>
              <a:t>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164592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Manual Record Keeping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2103120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D1D5DB"/>
                </a:solidFill>
              </a:defRPr>
            </a:pPr>
            <a:r>
              <a:t>Millions of salaried workers rely on cooperative savings, yet most systems are still managed with paper records and spreadsheets.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108960"/>
            <a:ext cx="11277295" cy="1371600"/>
          </a:xfrm>
          <a:prstGeom prst="roundRect">
            <a:avLst/>
          </a:prstGeom>
          <a:solidFill>
            <a:srgbClr val="1F2937"/>
          </a:solidFill>
          <a:ln>
            <a:solidFill>
              <a:srgbClr val="4B5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383280"/>
            <a:ext cx="731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/>
            </a:pPr>
            <a:r>
              <a:t>👁️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329184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Poor Transparency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3749040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D1D5DB"/>
                </a:solidFill>
              </a:defRPr>
            </a:pPr>
            <a:r>
              <a:t>Members struggle to track their savings, leading to distrust and confusion about their actual balances.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754880"/>
            <a:ext cx="11277295" cy="1371600"/>
          </a:xfrm>
          <a:prstGeom prst="roundRect">
            <a:avLst/>
          </a:prstGeom>
          <a:solidFill>
            <a:srgbClr val="1F2937"/>
          </a:solidFill>
          <a:ln>
            <a:solidFill>
              <a:srgbClr val="4B5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5029200"/>
            <a:ext cx="731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/>
            </a:pPr>
            <a:r>
              <a:t>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493776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Inefficient Processes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5394960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D1D5DB"/>
                </a:solidFill>
              </a:defRPr>
            </a:pPr>
            <a:r>
              <a:t>Loan applications take excessive time to process, and administrators struggle with effective record management.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5F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800" b="1">
                <a:solidFill>
                  <a:srgbClr val="F59E0B"/>
                </a:solidFill>
              </a:defRPr>
            </a:pPr>
            <a: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0" y="36576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</a:defRPr>
            </a:pPr>
            <a:r>
              <a:t>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>
                <a:solidFill>
                  <a:srgbClr val="D1F7D4"/>
                </a:solidFill>
              </a:defRPr>
            </a:pPr>
            <a:r>
              <a:t>CoopVest Africa is a comprehensive digital platform that helps salaried workers manage cooperative savings, loans, and financial records with complete transparency.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286000"/>
            <a:ext cx="5486400" cy="1645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560320"/>
            <a:ext cx="731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56032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015333"/>
                </a:solidFill>
              </a:defRPr>
            </a:pPr>
            <a:r>
              <a:t>Mobile &amp; Web Apps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108960"/>
            <a:ext cx="4114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>
                <a:solidFill>
                  <a:srgbClr val="6B7280"/>
                </a:solidFill>
              </a:defRPr>
            </a:pPr>
            <a:r>
              <a:t>Access your finances from anywhere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2286000"/>
            <a:ext cx="5486400" cy="1645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2560320"/>
            <a:ext cx="731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23760" y="256032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015333"/>
                </a:solidFill>
              </a:defRPr>
            </a:pPr>
            <a:r>
              <a:t>Bank-Grade Security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60" y="3108960"/>
            <a:ext cx="4114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>
                <a:solidFill>
                  <a:srgbClr val="6B7280"/>
                </a:solidFill>
              </a:defRPr>
            </a:pPr>
            <a:r>
              <a:t>Biometric &amp; encryption protection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297680"/>
            <a:ext cx="5486400" cy="1645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572000"/>
            <a:ext cx="731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457200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015333"/>
                </a:solidFill>
              </a:defRPr>
            </a:pPr>
            <a:r>
              <a:t>Easy Loans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120640"/>
            <a:ext cx="4114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>
                <a:solidFill>
                  <a:srgbClr val="6B7280"/>
                </a:solidFill>
              </a:defRPr>
            </a:pPr>
            <a:r>
              <a:t>QR-based guarantor system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4297680"/>
            <a:ext cx="5486400" cy="1645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0" y="4572000"/>
            <a:ext cx="731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📶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23760" y="457200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015333"/>
                </a:solidFill>
              </a:defRPr>
            </a:pPr>
            <a:r>
              <a:t>Offline Support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60" y="5120640"/>
            <a:ext cx="4114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>
                <a:solidFill>
                  <a:srgbClr val="6B7280"/>
                </a:solidFill>
              </a:defRPr>
            </a:pPr>
            <a:r>
              <a:t>Works without internet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0" y="5029200"/>
            <a:ext cx="2560320" cy="137160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0" y="5212080"/>
            <a:ext cx="2560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70+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603504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Features Built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03  Key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6B7280"/>
                </a:solidFill>
              </a:defRPr>
            </a:pPr>
            <a:r>
              <a:t>70+ features designed for the African market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3657600" cy="2377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3657600" cy="54864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46304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Savings Management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01168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374151"/>
                </a:solidFill>
              </a:defRPr>
            </a:pPr>
            <a:r>
              <a:t>• Track contributions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42316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374151"/>
                </a:solidFill>
              </a:defRPr>
            </a:pPr>
            <a:r>
              <a:t>• Real-time balance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83464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374151"/>
                </a:solidFill>
              </a:defRPr>
            </a:pPr>
            <a:r>
              <a:t>• Statement generation (PDF)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24612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374151"/>
                </a:solidFill>
              </a:defRPr>
            </a:pPr>
            <a:r>
              <a:t>• Withdrawal management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371600"/>
            <a:ext cx="3657600" cy="2377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89120" y="1371600"/>
            <a:ext cx="3657600" cy="54864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146304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📲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146304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Loan System with QR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201168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374151"/>
                </a:solidFill>
              </a:defRPr>
            </a:pPr>
            <a:r>
              <a:t>• Easy loan applications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242316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374151"/>
                </a:solidFill>
              </a:defRPr>
            </a:pPr>
            <a:r>
              <a:t>• 3-guarantor QR system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283464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374151"/>
                </a:solidFill>
              </a:defRPr>
            </a:pPr>
            <a:r>
              <a:t>• WhatsApp/SMS sharing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324612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374151"/>
                </a:solidFill>
              </a:defRPr>
            </a:pPr>
            <a:r>
              <a:t>• Repayment scheduling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321040" y="1371600"/>
            <a:ext cx="3657600" cy="2377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321040" y="1371600"/>
            <a:ext cx="3657600" cy="54864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03919" y="146304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1119" y="146304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Biometric Security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95360" y="201168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374151"/>
                </a:solidFill>
              </a:defRPr>
            </a:pPr>
            <a:r>
              <a:t>• Fingerprint recognition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95360" y="242316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374151"/>
                </a:solidFill>
              </a:defRPr>
            </a:pPr>
            <a:r>
              <a:t>• Face ID verification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95360" y="283464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374151"/>
                </a:solidFill>
              </a:defRPr>
            </a:pPr>
            <a:r>
              <a:t>• PIN backup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95360" y="324612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374151"/>
                </a:solidFill>
              </a:defRPr>
            </a:pPr>
            <a:r>
              <a:t>• AES-256 encryption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4023360"/>
            <a:ext cx="3657600" cy="2377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457200" y="4023360"/>
            <a:ext cx="3657600" cy="54864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411480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📶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" y="41148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Offline-First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466344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374151"/>
                </a:solidFill>
              </a:defRPr>
            </a:pPr>
            <a:r>
              <a:t>• View balance offline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507492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374151"/>
                </a:solidFill>
              </a:defRPr>
            </a:pPr>
            <a:r>
              <a:t>• Transaction queuing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48640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374151"/>
                </a:solidFill>
              </a:defRPr>
            </a:pPr>
            <a:r>
              <a:t>• Auto-sync on connect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589788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374151"/>
                </a:solidFill>
              </a:defRPr>
            </a:pPr>
            <a:r>
              <a:t>• Low bandwidth optimized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389120" y="4023360"/>
            <a:ext cx="3657600" cy="2377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4389120" y="4023360"/>
            <a:ext cx="3657600" cy="54864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0" y="411480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📈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0" y="41148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Investment Pools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663440" y="466344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374151"/>
                </a:solidFill>
              </a:defRPr>
            </a:pPr>
            <a:r>
              <a:t>• Multiple options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663440" y="507492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374151"/>
                </a:solidFill>
              </a:defRPr>
            </a:pPr>
            <a:r>
              <a:t>• Performance tracking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663440" y="548640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374151"/>
                </a:solidFill>
              </a:defRPr>
            </a:pPr>
            <a:r>
              <a:t>• Dividend management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663440" y="589788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374151"/>
                </a:solidFill>
              </a:defRPr>
            </a:pPr>
            <a:r>
              <a:t>• Risk level indicators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321040" y="4023360"/>
            <a:ext cx="3657600" cy="2377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8321040" y="4023360"/>
            <a:ext cx="3657600" cy="54864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503919" y="411480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📋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961119" y="41148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Complete KYC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595360" y="466344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374151"/>
                </a:solidFill>
              </a:defRPr>
            </a:pPr>
            <a:r>
              <a:t>• Document upload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595360" y="507492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374151"/>
                </a:solidFill>
              </a:defRPr>
            </a:pPr>
            <a:r>
              <a:t>• Liveness detection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595360" y="548640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374151"/>
                </a:solidFill>
              </a:defRPr>
            </a:pPr>
            <a:r>
              <a:t>• Bank account linking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595360" y="589788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374151"/>
                </a:solidFill>
              </a:defRPr>
            </a:pPr>
            <a:r>
              <a:t>• AML/CFT screening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C3A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04  How It Works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2651760" cy="4114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325880" y="1645920"/>
            <a:ext cx="914400" cy="91440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25880" y="1783080"/>
            <a:ext cx="914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743200"/>
            <a:ext cx="2286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0D1B2A"/>
                </a:solidFill>
              </a:defRPr>
            </a:pPr>
            <a:r>
              <a:t>Register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291840"/>
            <a:ext cx="22860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6B7280"/>
                </a:solidFill>
              </a:defRPr>
            </a:pPr>
            <a:r>
              <a:t>Sign up with email or phone, complete KYC verification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1371600"/>
            <a:ext cx="2651760" cy="4114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251960" y="1645920"/>
            <a:ext cx="914400" cy="91440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51960" y="1783080"/>
            <a:ext cx="914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2743200"/>
            <a:ext cx="2286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0D1B2A"/>
                </a:solidFill>
              </a:defRPr>
            </a:pPr>
            <a:r>
              <a:t>Save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3291840"/>
            <a:ext cx="22860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6B7280"/>
                </a:solidFill>
              </a:defRPr>
            </a:pPr>
            <a:r>
              <a:t>Make contributions, track savings, view transaction history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1371600"/>
            <a:ext cx="2651760" cy="4114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178040" y="1645920"/>
            <a:ext cx="914400" cy="91440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78040" y="1783080"/>
            <a:ext cx="914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743200"/>
            <a:ext cx="2286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0D1B2A"/>
                </a:solidFill>
              </a:defRPr>
            </a:pPr>
            <a:r>
              <a:t>Apply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3291840"/>
            <a:ext cx="22860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6B7280"/>
                </a:solidFill>
              </a:defRPr>
            </a:pPr>
            <a:r>
              <a:t>Request loans, invite guarantors via QR code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35440" y="1371600"/>
            <a:ext cx="2651760" cy="4114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04120" y="1645920"/>
            <a:ext cx="914400" cy="91440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04120" y="1783080"/>
            <a:ext cx="914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18320" y="2743200"/>
            <a:ext cx="2286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0D1B2A"/>
                </a:solidFill>
              </a:defRPr>
            </a:pPr>
            <a:r>
              <a:t>Grow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18320" y="3291840"/>
            <a:ext cx="22860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6B7280"/>
                </a:solidFill>
              </a:defRPr>
            </a:pPr>
            <a:r>
              <a:t>Repay loans, invest in pools, build financial health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76072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📱 Android App</a:t>
            </a:r>
          </a:p>
          <a:p>
            <a:pPr algn="ctr">
              <a:defRPr sz="1800">
                <a:solidFill>
                  <a:srgbClr val="FFFFFF"/>
                </a:solidFill>
              </a:defRPr>
            </a:pPr>
            <a:r>
              <a:t>🍎 iOS App</a:t>
            </a:r>
          </a:p>
          <a:p>
            <a:pPr algn="ctr">
              <a:defRPr sz="1800">
                <a:solidFill>
                  <a:srgbClr val="FFFFFF"/>
                </a:solidFill>
              </a:defRPr>
            </a:pPr>
            <a:r>
              <a:t>🌐 Web Portal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5F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05  Market Opportunity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280160"/>
            <a:ext cx="5029200" cy="1463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39"/>
            <a:ext cx="2743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065F46"/>
                </a:solidFill>
              </a:defRPr>
            </a:pPr>
            <a:r>
              <a:t>40M+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D1B2A"/>
                </a:solidFill>
              </a:defRPr>
            </a:pPr>
            <a:r>
              <a:t>Salaried Workers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14600"/>
            <a:ext cx="4114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B7280"/>
                </a:solidFill>
              </a:defRPr>
            </a:pPr>
            <a:r>
              <a:t>Nigeria's formal workforce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017520"/>
            <a:ext cx="5029200" cy="1463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3200400"/>
            <a:ext cx="2743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065F46"/>
                </a:solidFill>
              </a:defRPr>
            </a:pPr>
            <a:r>
              <a:t>150K+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93192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D1B2A"/>
                </a:solidFill>
              </a:defRPr>
            </a:pPr>
            <a:r>
              <a:t>Cooperative Societies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251960"/>
            <a:ext cx="4114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B7280"/>
                </a:solidFill>
              </a:defRPr>
            </a:pPr>
            <a:r>
              <a:t>Registered in Nigeria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754879"/>
            <a:ext cx="5029200" cy="1463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4937759"/>
            <a:ext cx="2743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065F46"/>
                </a:solidFill>
              </a:defRPr>
            </a:pPr>
            <a:r>
              <a:t>$500M+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669279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D1B2A"/>
                </a:solidFill>
              </a:defRPr>
            </a:pPr>
            <a:r>
              <a:t>FinTech Investment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989319"/>
            <a:ext cx="4114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B7280"/>
                </a:solidFill>
              </a:defRPr>
            </a:pPr>
            <a:r>
              <a:t>Annual in Nigeria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0" y="1828800"/>
            <a:ext cx="5486400" cy="3657600"/>
          </a:xfrm>
          <a:prstGeom prst="roundRect">
            <a:avLst/>
          </a:prstGeom>
          <a:solidFill>
            <a:srgbClr val="0D1B2A"/>
          </a:solidFill>
          <a:ln w="381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0" y="2743200"/>
            <a:ext cx="5486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F59E0B"/>
                </a:solidFill>
              </a:defRPr>
            </a:pPr>
            <a:r>
              <a:t>$50B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4114800"/>
            <a:ext cx="5486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Cooperative Savings Market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06  Business Model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280160"/>
            <a:ext cx="3657600" cy="4114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737360" y="1554480"/>
            <a:ext cx="1097280" cy="109728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1691640"/>
            <a:ext cx="914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/>
            </a:pPr>
            <a:r>
              <a:t>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834640"/>
            <a:ext cx="3108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0D1B2A"/>
                </a:solidFill>
              </a:defRPr>
            </a:pPr>
            <a:r>
              <a:t>Subscription Fees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291840"/>
            <a:ext cx="3108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6B7280"/>
                </a:solidFill>
              </a:defRPr>
            </a:pPr>
            <a:r>
              <a:t>Monthly/annual platform subscription plans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114800"/>
            <a:ext cx="3108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59E0B"/>
                </a:solidFill>
              </a:defRPr>
            </a:pPr>
            <a:r>
              <a:t>30%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6344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6B7280"/>
                </a:solidFill>
              </a:defRPr>
            </a:pPr>
            <a:r>
              <a:t>of revenue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280160"/>
            <a:ext cx="3657600" cy="4114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79" y="1554480"/>
            <a:ext cx="1097280" cy="109728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760720" y="1691640"/>
            <a:ext cx="914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/>
            </a:pPr>
            <a:r>
              <a:t>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834640"/>
            <a:ext cx="3108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0D1B2A"/>
                </a:solidFill>
              </a:defRPr>
            </a:pPr>
            <a:r>
              <a:t>Transaction Fees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3291840"/>
            <a:ext cx="3108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6B7280"/>
                </a:solidFill>
              </a:defRPr>
            </a:pPr>
            <a:r>
              <a:t>Service charges on loans, contributions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4114800"/>
            <a:ext cx="3108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3B82F6"/>
                </a:solidFill>
              </a:defRPr>
            </a:pPr>
            <a:r>
              <a:t>50%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466344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6B7280"/>
                </a:solidFill>
              </a:defRPr>
            </a:pPr>
            <a:r>
              <a:t>of revenue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21040" y="1280160"/>
            <a:ext cx="3657600" cy="4114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601200" y="1554480"/>
            <a:ext cx="1097280" cy="109728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92640" y="1691640"/>
            <a:ext cx="914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/>
            </a:pPr>
            <a:r>
              <a:t>❤️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95360" y="2834640"/>
            <a:ext cx="3108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0D1B2A"/>
                </a:solidFill>
              </a:defRPr>
            </a:pPr>
            <a:r>
              <a:t>Financial Services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95360" y="3291840"/>
            <a:ext cx="3108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6B7280"/>
                </a:solidFill>
              </a:defRPr>
            </a:pPr>
            <a:r>
              <a:t>Insurance, investments, premium features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95360" y="4114800"/>
            <a:ext cx="3108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8B5CF6"/>
                </a:solidFill>
              </a:defRPr>
            </a:pPr>
            <a:r>
              <a:t>20%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95360" y="466344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6B7280"/>
                </a:solidFill>
              </a:defRPr>
            </a:pPr>
            <a:r>
              <a:t>of revenue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59E0B"/>
                </a:solidFill>
              </a:defRPr>
            </a:pPr>
            <a:r>
              <a:t>07  Our Vision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>
                <a:solidFill>
                  <a:srgbClr val="FFFFFF"/>
                </a:solidFill>
              </a:defRPr>
            </a:pPr>
            <a:r>
              <a:t>"To build the digital infrastructure that powers cooperative finance for salaried workers in Nigeria and eventually across Africa."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3931920"/>
            <a:ext cx="3657600" cy="2011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0" y="411480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/>
            </a:pPr>
            <a:r>
              <a:t>🇳🇬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4846320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0D1B2A"/>
                </a:solidFill>
              </a:defRPr>
            </a:pPr>
            <a:r>
              <a:t>Nigeria First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5303520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6B7280"/>
                </a:solidFill>
              </a:defRPr>
            </a:pPr>
            <a:r>
              <a:t>Start with Nigeria's 40M+ workers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846320" y="3931920"/>
            <a:ext cx="3657600" cy="2011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0" y="411480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/>
            </a:pPr>
            <a:r>
              <a:t>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0" y="4846320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0D1B2A"/>
                </a:solidFill>
              </a:defRPr>
            </a:pPr>
            <a:r>
              <a:t>Pan-Africa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0" y="5303520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6B7280"/>
                </a:solidFill>
              </a:defRPr>
            </a:pPr>
            <a:r>
              <a:t>Expand across the continent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778240" y="3931920"/>
            <a:ext cx="3657600" cy="2011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149840" y="411480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/>
            </a:pPr>
            <a:r>
              <a:t>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0" y="4846320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0D1B2A"/>
                </a:solidFill>
              </a:defRPr>
            </a:pPr>
            <a:r>
              <a:t>Financial Inclusion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52560" y="5303520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6B7280"/>
                </a:solidFill>
              </a:defRPr>
            </a:pPr>
            <a:r>
              <a:t>Empower millions with access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5F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638190" y="731520"/>
            <a:ext cx="1097280" cy="109728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75350" y="868680"/>
            <a:ext cx="914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/>
            </a:pPr>
            <a:r>
              <a:t>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CoopVest Africa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017520"/>
            <a:ext cx="94484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>
                <a:solidFill>
                  <a:srgbClr val="D1F7D4"/>
                </a:solidFill>
              </a:defRPr>
            </a:pPr>
            <a:r>
              <a:t>"CoopVest Africa is not just a platform; it is a step toward making cooperative finance more transparent, accessible, and efficient for millions of people."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0" y="4846320"/>
            <a:ext cx="2286000" cy="1188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0" y="4937760"/>
            <a:ext cx="2286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59E0B"/>
                </a:solidFill>
              </a:defRPr>
            </a:pPr>
            <a:r>
              <a:t>70+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548640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6B7280"/>
                </a:solidFill>
              </a:defRPr>
            </a:pPr>
            <a:r>
              <a:t>Features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60720" y="4846320"/>
            <a:ext cx="2286000" cy="1188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60720" y="4937760"/>
            <a:ext cx="2286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10B981"/>
                </a:solidFill>
              </a:defRPr>
            </a:pPr>
            <a:r>
              <a:t>40M+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0" y="548640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6B7280"/>
                </a:solidFill>
              </a:defRPr>
            </a:pPr>
            <a:r>
              <a:t>Target Users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21040" y="4846320"/>
            <a:ext cx="2286000" cy="1188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4937760"/>
            <a:ext cx="2286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60A5FA"/>
                </a:solidFill>
              </a:defRPr>
            </a:pPr>
            <a:r>
              <a:t>99.9%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548640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6B7280"/>
                </a:solidFill>
              </a:defRPr>
            </a:pPr>
            <a:r>
              <a:t>Uptime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621792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Thank you for your time!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6492240"/>
            <a:ext cx="103628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59E0B"/>
                </a:solidFill>
              </a:defRPr>
            </a:pPr>
            <a:r>
              <a:t>Ayanlowo Olatunji Ayobami | Founder &amp; CEO, CoopVest Africa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